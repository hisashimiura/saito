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-95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0691C-1075-08AA-A3A5-1EAB344C5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28D8C3-FC10-2C37-056D-8EA136E05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32CEC-98C0-793A-D571-8DDCC8A3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A1CA1F-8FF5-D5FA-C5F6-7B6C518A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ABF1A6-CDEA-54CB-7149-9FB3AE06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143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EAECB-8D39-041D-6F70-9D44D300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A8AC66-A0B8-BB80-4F6D-247E8AFAA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0F5320-E3B7-2311-60A8-651B9E88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098251-7857-9FBC-09AE-0EEA07F2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1FD05E-7CDA-774A-2CCA-09CBE36A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07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10B38-2FA8-BCA1-8EC7-8EB5FFC7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B6883B-D9B6-7C23-FE7B-3F1C6A727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02309-B98B-56B0-F5CD-608BD0CD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4EEE86-DF4E-392A-EFD5-D96EB9F27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70827A-DD26-BC76-7472-87274908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26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C34D8B-1804-F6FF-E12E-C021F6F4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4D7B73-5491-6464-87F0-B422822BC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A30D6A-B7D3-BBE5-09C5-7807F6459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9111DE-EF28-CD71-328A-3D17688E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8A13A-71EF-2F35-FC80-034DBFB9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B5A5F9-5170-1E88-90B7-F3978DB9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54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50FC0-DBB2-E450-4FBC-710B80D6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A4A8F2-ACC6-1C14-65FD-B9BC87E41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38ABED-BE0D-E799-79C0-F698F5913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658329-5C31-D59D-DD5D-93F8DEDA8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BE8690B-0C13-EA77-5AA7-E1FA1C8DB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877122-FAB6-66F2-0BEF-ABA26D83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3A6EB3-4790-8469-BE64-0F120B01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68CC742-4D8F-909E-DA6D-D619A761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57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058EE-91E5-6F9C-9AB7-7991A892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15B28A-70FD-5485-960D-E6FE0267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6909FE-C07D-8408-C657-B728C6B8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9E479A-74E8-D53F-5B18-16BED97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50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E83A78-0574-20A6-11C0-A345BDD09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0A621C-B63E-06F8-5796-8330A7F4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B08048-68E0-0C53-9776-E8BE8702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05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C4199-D526-B1B2-21EA-9B38BA3F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0D62E3-39F7-4E8D-E10A-98922C8A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EF5781-AA98-9D2A-08C4-76F7CD544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82FA6C-6547-6758-D0A3-C88E8935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098ACA-46BF-0DB3-013E-D70EEAB9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BF0FAB-9952-BFF1-1238-B16EDAB0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49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86FF89-5F23-AA27-3DB7-9B720850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F4031E-A259-3ABF-EA3B-91404DCA0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8BE7D4-D708-BEFE-2093-38683306B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5F77B7-1687-E7CF-10F1-36E1AF30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D84AD9-04FA-F3F6-43A5-B8E68D31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0136AF-EFB0-DE54-46C6-5BEDE65D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5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70CCE-5130-65C0-5A88-3814D437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8B6F0C-0BC3-D7FA-F035-E4041D180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1C6B7E-A89E-5F3D-D738-E9D5AD61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AC2A84-A461-7436-51BD-11C1AD02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90B011-B558-2A52-71A9-E6AFA026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25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490B9E-3FF4-0382-F7DB-6638AF91A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A3776B-3720-1A24-CC37-16EE98572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3C9C22-F970-528A-4582-C1BA7D15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318EC7-9B8B-965B-7315-8F6D6971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FAD241-2D3D-6C93-EE46-403D5506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053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89D5A8-34C3-2773-F3E9-B2EFE339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654C27-7178-2C3B-3160-8B1EB7C7C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71C6C7-BA8D-6C32-1A59-D66F90B83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B5C19-CFC1-4C63-97BC-623B2C12359B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85D580-BD14-D5E6-E39B-52001B001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92CF8E-88FF-E214-9198-1BB19FE5A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C7886-F529-4155-AE65-679E51B912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21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709E4FA-704C-FA75-17C2-976D47A5CC97}"/>
              </a:ext>
            </a:extLst>
          </p:cNvPr>
          <p:cNvCxnSpPr/>
          <p:nvPr/>
        </p:nvCxnSpPr>
        <p:spPr>
          <a:xfrm>
            <a:off x="6941128" y="267854"/>
            <a:ext cx="0" cy="61052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1B07E52-0483-8759-891F-0074AA2CA71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426691" y="2027382"/>
            <a:ext cx="0" cy="1796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E3643B6C-874C-B837-43E5-55ECB847EE43}"/>
              </a:ext>
            </a:extLst>
          </p:cNvPr>
          <p:cNvSpPr/>
          <p:nvPr/>
        </p:nvSpPr>
        <p:spPr>
          <a:xfrm>
            <a:off x="5860473" y="2604508"/>
            <a:ext cx="2207491" cy="42949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熱収支の計算</a:t>
            </a:r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953B38D0-B9C0-E2AD-E2ED-DBC108122F1C}"/>
              </a:ext>
            </a:extLst>
          </p:cNvPr>
          <p:cNvSpPr/>
          <p:nvPr/>
        </p:nvSpPr>
        <p:spPr>
          <a:xfrm>
            <a:off x="5897419" y="3282647"/>
            <a:ext cx="2207491" cy="42949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通気層換気量</a:t>
            </a:r>
            <a:r>
              <a:rPr kumimoji="1" lang="ja-JP" altLang="en-US" sz="1400" dirty="0"/>
              <a:t>の計算</a:t>
            </a:r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9C5D5A28-CF17-B59E-9046-9A616151BB17}"/>
              </a:ext>
            </a:extLst>
          </p:cNvPr>
          <p:cNvSpPr/>
          <p:nvPr/>
        </p:nvSpPr>
        <p:spPr>
          <a:xfrm>
            <a:off x="5883562" y="4667233"/>
            <a:ext cx="2207491" cy="4410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水分収支</a:t>
            </a:r>
            <a:r>
              <a:rPr kumimoji="1" lang="ja-JP" altLang="en-US" sz="1400" dirty="0"/>
              <a:t>の計算</a:t>
            </a:r>
          </a:p>
        </p:txBody>
      </p:sp>
      <p:sp>
        <p:nvSpPr>
          <p:cNvPr id="7" name="フローチャート: 判断 6">
            <a:extLst>
              <a:ext uri="{FF2B5EF4-FFF2-40B4-BE49-F238E27FC236}">
                <a16:creationId xmlns:a16="http://schemas.microsoft.com/office/drawing/2014/main" id="{02D07A9A-BFC4-9337-3744-66A37A9E8BF0}"/>
              </a:ext>
            </a:extLst>
          </p:cNvPr>
          <p:cNvSpPr/>
          <p:nvPr/>
        </p:nvSpPr>
        <p:spPr>
          <a:xfrm>
            <a:off x="5712692" y="3945346"/>
            <a:ext cx="2456872" cy="52647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収束判定</a:t>
            </a:r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CC066559-5E5E-2664-3C01-01982EDC39C9}"/>
              </a:ext>
            </a:extLst>
          </p:cNvPr>
          <p:cNvSpPr/>
          <p:nvPr/>
        </p:nvSpPr>
        <p:spPr>
          <a:xfrm>
            <a:off x="2082800" y="1380836"/>
            <a:ext cx="2687782" cy="64654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計算条件ファイルの読み込み</a:t>
            </a:r>
          </a:p>
        </p:txBody>
      </p:sp>
      <p:sp>
        <p:nvSpPr>
          <p:cNvPr id="9" name="フローチャート: 処理 8">
            <a:extLst>
              <a:ext uri="{FF2B5EF4-FFF2-40B4-BE49-F238E27FC236}">
                <a16:creationId xmlns:a16="http://schemas.microsoft.com/office/drawing/2014/main" id="{8538B4DF-4104-ACFD-51F9-9C8CD894AAF0}"/>
              </a:ext>
            </a:extLst>
          </p:cNvPr>
          <p:cNvSpPr/>
          <p:nvPr/>
        </p:nvSpPr>
        <p:spPr>
          <a:xfrm>
            <a:off x="2309091" y="2249053"/>
            <a:ext cx="2207491" cy="42949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初期値の設定</a:t>
            </a:r>
          </a:p>
        </p:txBody>
      </p:sp>
      <p:sp>
        <p:nvSpPr>
          <p:cNvPr id="11" name="フローチャート: 処理 10">
            <a:extLst>
              <a:ext uri="{FF2B5EF4-FFF2-40B4-BE49-F238E27FC236}">
                <a16:creationId xmlns:a16="http://schemas.microsoft.com/office/drawing/2014/main" id="{0ADAE619-4D26-593A-3D6F-EE580DAA2589}"/>
              </a:ext>
            </a:extLst>
          </p:cNvPr>
          <p:cNvSpPr/>
          <p:nvPr/>
        </p:nvSpPr>
        <p:spPr>
          <a:xfrm>
            <a:off x="5463309" y="634995"/>
            <a:ext cx="3038765" cy="4156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前時間ステップ</a:t>
            </a:r>
            <a:r>
              <a:rPr kumimoji="1" lang="en-US" altLang="ja-JP" sz="1400" dirty="0" err="1"/>
              <a:t>T,</a:t>
            </a:r>
            <a:r>
              <a:rPr lang="en-US" altLang="ja-JP" sz="1400" dirty="0" err="1"/>
              <a:t>μ</a:t>
            </a:r>
            <a:r>
              <a:rPr kumimoji="1" lang="ja-JP" altLang="en-US" sz="1400" dirty="0"/>
              <a:t>の読み込み</a:t>
            </a:r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66F03756-7A1B-A845-5CC5-16F7A1D64472}"/>
              </a:ext>
            </a:extLst>
          </p:cNvPr>
          <p:cNvSpPr/>
          <p:nvPr/>
        </p:nvSpPr>
        <p:spPr>
          <a:xfrm>
            <a:off x="5860472" y="2002400"/>
            <a:ext cx="2207491" cy="42949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物性値の設定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C24CFDC-3B0D-AD85-22DD-8D22AEFBC607}"/>
              </a:ext>
            </a:extLst>
          </p:cNvPr>
          <p:cNvCxnSpPr>
            <a:cxnSpLocks/>
          </p:cNvCxnSpPr>
          <p:nvPr/>
        </p:nvCxnSpPr>
        <p:spPr>
          <a:xfrm>
            <a:off x="8211128" y="4208585"/>
            <a:ext cx="8774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E584A09-CE6E-74A1-BC60-B33C903E16AB}"/>
              </a:ext>
            </a:extLst>
          </p:cNvPr>
          <p:cNvCxnSpPr>
            <a:cxnSpLocks/>
          </p:cNvCxnSpPr>
          <p:nvPr/>
        </p:nvCxnSpPr>
        <p:spPr>
          <a:xfrm flipV="1">
            <a:off x="9088582" y="2795427"/>
            <a:ext cx="0" cy="14131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C7328EA-5B7F-62AA-7D84-096E86EA2476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8067964" y="2819254"/>
            <a:ext cx="1020618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フローチャート: 処理 22">
            <a:extLst>
              <a:ext uri="{FF2B5EF4-FFF2-40B4-BE49-F238E27FC236}">
                <a16:creationId xmlns:a16="http://schemas.microsoft.com/office/drawing/2014/main" id="{0D85B7C8-1231-5986-1B8D-09653247B196}"/>
              </a:ext>
            </a:extLst>
          </p:cNvPr>
          <p:cNvSpPr/>
          <p:nvPr/>
        </p:nvSpPr>
        <p:spPr>
          <a:xfrm>
            <a:off x="5859318" y="1477147"/>
            <a:ext cx="2207491" cy="4410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壁面雨量</a:t>
            </a:r>
            <a:r>
              <a:rPr kumimoji="1" lang="ja-JP" altLang="en-US" sz="1400" dirty="0"/>
              <a:t>の計算</a:t>
            </a:r>
          </a:p>
        </p:txBody>
      </p:sp>
      <p:sp>
        <p:nvSpPr>
          <p:cNvPr id="25" name="フローチャート: 処理 24">
            <a:extLst>
              <a:ext uri="{FF2B5EF4-FFF2-40B4-BE49-F238E27FC236}">
                <a16:creationId xmlns:a16="http://schemas.microsoft.com/office/drawing/2014/main" id="{AD5BD1B0-06D7-CC30-3B2B-420BFE9C8180}"/>
              </a:ext>
            </a:extLst>
          </p:cNvPr>
          <p:cNvSpPr/>
          <p:nvPr/>
        </p:nvSpPr>
        <p:spPr>
          <a:xfrm>
            <a:off x="5878945" y="5260812"/>
            <a:ext cx="2207491" cy="4410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計算結果の書き込み</a:t>
            </a:r>
            <a:endParaRPr kumimoji="1" lang="ja-JP" altLang="en-US" sz="1400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AC55FFE-3EAE-A49B-F5BF-CB1856C39909}"/>
              </a:ext>
            </a:extLst>
          </p:cNvPr>
          <p:cNvCxnSpPr>
            <a:cxnSpLocks/>
          </p:cNvCxnSpPr>
          <p:nvPr/>
        </p:nvCxnSpPr>
        <p:spPr>
          <a:xfrm flipH="1">
            <a:off x="5204691" y="6071165"/>
            <a:ext cx="6326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76F5A81-2A55-0DFD-D136-F250AC0E9794}"/>
              </a:ext>
            </a:extLst>
          </p:cNvPr>
          <p:cNvCxnSpPr>
            <a:cxnSpLocks/>
          </p:cNvCxnSpPr>
          <p:nvPr/>
        </p:nvCxnSpPr>
        <p:spPr>
          <a:xfrm flipV="1">
            <a:off x="5218546" y="842817"/>
            <a:ext cx="27708" cy="5228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B1041C5-7583-7427-858E-196869B6051F}"/>
              </a:ext>
            </a:extLst>
          </p:cNvPr>
          <p:cNvCxnSpPr>
            <a:endCxn id="11" idx="1"/>
          </p:cNvCxnSpPr>
          <p:nvPr/>
        </p:nvCxnSpPr>
        <p:spPr>
          <a:xfrm>
            <a:off x="5246254" y="842817"/>
            <a:ext cx="217055" cy="1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63C68DF1-46C6-ACF3-4A2C-453FCEF3BDB2}"/>
              </a:ext>
            </a:extLst>
          </p:cNvPr>
          <p:cNvCxnSpPr/>
          <p:nvPr/>
        </p:nvCxnSpPr>
        <p:spPr>
          <a:xfrm>
            <a:off x="3431308" y="3796145"/>
            <a:ext cx="15470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BD1B4B7-5B1B-DB82-B322-C6D98D70AEA9}"/>
              </a:ext>
            </a:extLst>
          </p:cNvPr>
          <p:cNvCxnSpPr/>
          <p:nvPr/>
        </p:nvCxnSpPr>
        <p:spPr>
          <a:xfrm flipV="1">
            <a:off x="4978400" y="267854"/>
            <a:ext cx="0" cy="35282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C9DD1DE4-BF6A-C570-561B-F132073DA9FC}"/>
              </a:ext>
            </a:extLst>
          </p:cNvPr>
          <p:cNvCxnSpPr/>
          <p:nvPr/>
        </p:nvCxnSpPr>
        <p:spPr>
          <a:xfrm>
            <a:off x="4959927" y="258618"/>
            <a:ext cx="19812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フローチャート: 処理 44">
            <a:extLst>
              <a:ext uri="{FF2B5EF4-FFF2-40B4-BE49-F238E27FC236}">
                <a16:creationId xmlns:a16="http://schemas.microsoft.com/office/drawing/2014/main" id="{D7FEC79B-A6D3-C401-FF19-F9248D813BE8}"/>
              </a:ext>
            </a:extLst>
          </p:cNvPr>
          <p:cNvSpPr/>
          <p:nvPr/>
        </p:nvSpPr>
        <p:spPr>
          <a:xfrm>
            <a:off x="5837382" y="6331492"/>
            <a:ext cx="2207491" cy="4410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END</a:t>
            </a:r>
            <a:endParaRPr kumimoji="1" lang="ja-JP" altLang="en-US" sz="1400" dirty="0"/>
          </a:p>
        </p:txBody>
      </p:sp>
      <p:sp>
        <p:nvSpPr>
          <p:cNvPr id="48" name="フローチャート: 判断 47">
            <a:extLst>
              <a:ext uri="{FF2B5EF4-FFF2-40B4-BE49-F238E27FC236}">
                <a16:creationId xmlns:a16="http://schemas.microsoft.com/office/drawing/2014/main" id="{8961324B-F036-C4A3-52B3-D15982D7448F}"/>
              </a:ext>
            </a:extLst>
          </p:cNvPr>
          <p:cNvSpPr/>
          <p:nvPr/>
        </p:nvSpPr>
        <p:spPr>
          <a:xfrm>
            <a:off x="5608781" y="5830142"/>
            <a:ext cx="2664691" cy="4335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計算期間判定</a:t>
            </a:r>
            <a:endParaRPr kumimoji="1" lang="ja-JP" altLang="en-US" sz="1400" dirty="0"/>
          </a:p>
        </p:txBody>
      </p:sp>
      <p:sp>
        <p:nvSpPr>
          <p:cNvPr id="50" name="フローチャート: 処理 49">
            <a:extLst>
              <a:ext uri="{FF2B5EF4-FFF2-40B4-BE49-F238E27FC236}">
                <a16:creationId xmlns:a16="http://schemas.microsoft.com/office/drawing/2014/main" id="{BD3AE546-9F8D-CA8A-E4F5-74488974DD14}"/>
              </a:ext>
            </a:extLst>
          </p:cNvPr>
          <p:cNvSpPr/>
          <p:nvPr/>
        </p:nvSpPr>
        <p:spPr>
          <a:xfrm>
            <a:off x="5659581" y="1148932"/>
            <a:ext cx="2613891" cy="22428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室内・気象データの読み込み</a:t>
            </a:r>
          </a:p>
        </p:txBody>
      </p:sp>
    </p:spTree>
    <p:extLst>
      <p:ext uri="{BB962C8B-B14F-4D97-AF65-F5344CB8AC3E}">
        <p14:creationId xmlns:p14="http://schemas.microsoft.com/office/powerpoint/2010/main" val="108393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50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宏昭 齋藤</dc:creator>
  <cp:lastModifiedBy>宏昭 齋藤</cp:lastModifiedBy>
  <cp:revision>2</cp:revision>
  <dcterms:created xsi:type="dcterms:W3CDTF">2026-01-21T09:55:08Z</dcterms:created>
  <dcterms:modified xsi:type="dcterms:W3CDTF">2026-01-21T10:37:58Z</dcterms:modified>
</cp:coreProperties>
</file>